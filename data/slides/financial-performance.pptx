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b7bb58580e442f" /><Relationship Type="http://schemas.openxmlformats.org/officeDocument/2006/relationships/extended-properties" Target="/docProps/app.xml" Id="Rc6486d0d2e604b9c" /><Relationship Type="http://schemas.openxmlformats.org/officeDocument/2006/relationships/officeDocument" Target="/ppt/presentation.xml" Id="R3ea41e94ba5b4c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0fee85d37cf45d9"/>
  </p:sldMasterIdLst>
  <p:notesMasterIdLst>
    <p:notesMasterId xmlns:r="http://schemas.openxmlformats.org/officeDocument/2006/relationships" r:id="R8669af86e40a402f"/>
  </p:notesMasterIdLst>
  <p:sldIdLst>
    <p:sldId xmlns:r="http://schemas.openxmlformats.org/officeDocument/2006/relationships" id="256" r:id="R9095c7b7c624474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2b147099534c5a" /><Relationship Type="http://schemas.openxmlformats.org/officeDocument/2006/relationships/slideMaster" Target="/ppt/slideMasters/slideMaster1.xml" Id="Rc0fee85d37cf45d9" /><Relationship Type="http://schemas.openxmlformats.org/officeDocument/2006/relationships/notesMaster" Target="/ppt/notesMasters/notesMaster1.xml" Id="R8669af86e40a402f" /><Relationship Type="http://schemas.openxmlformats.org/officeDocument/2006/relationships/presProps" Target="/ppt/presProps.xml" Id="Ref6f048692c14715" /><Relationship Type="http://schemas.openxmlformats.org/officeDocument/2006/relationships/tableStyles" Target="/ppt/tableStyles.xml" Id="Raafd17f855904a61" /><Relationship Type="http://schemas.openxmlformats.org/officeDocument/2006/relationships/slide" Target="/ppt/slides/slide1.xml" Id="R9095c7b7c62447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cfae22818a41e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94e374b0b949a5" /><Relationship Type="http://schemas.openxmlformats.org/officeDocument/2006/relationships/notesMaster" Target="/ppt/notesMasters/notesMaster1.xml" Id="R4e578878631d4d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376ee2a6c44c4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bd55c687d54f53" /><Relationship Type="http://schemas.openxmlformats.org/officeDocument/2006/relationships/slideLayout" Target="/ppt/slideLayouts/slideLayout1.xml" Id="Rc405ba5f096943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405ba5f096943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08a1f2fbff491f" /><Relationship Type="http://schemas.openxmlformats.org/officeDocument/2006/relationships/chart" Target="/ppt/slides/charts/chart1.xml" Id="R32712a503d8d4ade" /><Relationship Type="http://schemas.openxmlformats.org/officeDocument/2006/relationships/notesSlide" Target="/ppt/notesSlides/notesSlide1.xml" Id="R75d519caa752402f" /></Relationships>
</file>

<file path=ppt/slides/charts/chart1.xml><?xml version="1.0" encoding="utf-8"?>
<c:chartSpace xmlns:c="http://schemas.openxmlformats.org/drawingml/2006/chart">
  <c:lang val="en-US"/>
  <c:roundedCorners val="0"/>
  <c:chart>
    <c:plotArea>
      <c:layout/>
      <c:barChart>
        <c:barDir val="col"/>
        <c:varyColors val="0"/>
        <c:ser>
          <c:idx val="0"/>
          <c:order val="0"/>
          <c:tx>
            <c:v>Plan</c:v>
          </c:tx>
          <c:spPr>
            <a:solidFill xmlns:a="http://schemas.openxmlformats.org/drawingml/2006/main">
              <a:srgbClr val="CBD5E1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Revenue</c:v>
              </c:pt>
              <c:pt idx="1">
                <c:v>Gross profit</c:v>
              </c:pt>
              <c:pt idx="2">
                <c:v>EBITDA</c:v>
              </c:pt>
            </c:strLit>
          </c:cat>
          <c:val>
            <c:numLit>
              <c:formatCode>General</c:formatCode>
              <c:ptCount val="3"/>
              <c:pt idx="0">
                <c:v>100</c:v>
              </c:pt>
              <c:pt idx="1">
                <c:v>100</c:v>
              </c:pt>
              <c:pt idx="2">
                <c:v>100</c:v>
              </c:pt>
            </c:numLit>
          </c:val>
        </c:ser>
        <c:ser>
          <c:idx val="1"/>
          <c:order val="1"/>
          <c:tx>
            <c:v>Actual</c:v>
          </c:tx>
          <c:spPr>
            <a:solidFill xmlns:a="http://schemas.openxmlformats.org/drawingml/2006/main">
              <a:srgbClr val="2F6FED"/>
            </a:solidFill>
          </c:spPr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3"/>
              <c:pt idx="0">
                <c:v>Revenue</c:v>
              </c:pt>
              <c:pt idx="1">
                <c:v>Gross profit</c:v>
              </c:pt>
              <c:pt idx="2">
                <c:v>EBITDA</c:v>
              </c:pt>
            </c:strLit>
          </c:cat>
          <c:val>
            <c:numLit>
              <c:formatCode>General</c:formatCode>
              <c:ptCount val="3"/>
              <c:pt idx="0">
                <c:v>106</c:v>
              </c:pt>
              <c:pt idx="1">
                <c:v>109</c:v>
              </c:pt>
              <c:pt idx="2">
                <c:v>113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  <c:crosses val="autoZero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es val="autoZero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32DC7D-D205-4FF7-9156-A96F173C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5E9F2-FFD7-4A92-9E52-AA32402D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1633E-86E6-435A-A9B7-AE5E053F4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NORTHSTAR  /  CORPORATE LIBRARY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1A4849-85ED-4CE6-A0D6-49FAC04B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781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Financial Performance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DA17B-2B20-45F9-BE47-AE31F28F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Profitable growth remains ahead of plan through the first half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E7C786-E402-4EEB-8638-F90E50D5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85800"/>
            <a:ext cx="1905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0B4FF-B4E8-4FA1-B043-404B30C5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742950"/>
            <a:ext cx="167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7F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6E"/>
                </a:solidFill>
                <a:latin typeface="Aptos"/>
                <a:ea typeface="Aptos"/>
                <a:cs typeface="Aptos"/>
              </a:rPr>
              <a:t>APPROVED  •  v2.7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49C45-EF27-401B-BB13-B658F95D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2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89547-ACE3-4B8D-9B78-D62F138EA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81775"/>
            <a:ext cx="24765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1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27D98"/>
                </a:solidFill>
                <a:latin typeface="Aptos"/>
                <a:ea typeface="Aptos"/>
                <a:cs typeface="Aptos"/>
              </a:rPr>
              <a:t>ILLUSTRATIVE DEMO CONTENT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847B2B-2EF5-44CE-9CB9-6AFF2F224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581775"/>
            <a:ext cx="16002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Updated July 2026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B513E-9211-4C44-BC5F-A0C6C06D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3333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0CFB30-ED42-4BBE-9158-50691540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9758FE-D7C9-47ED-93BC-58551DEF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62175"/>
            <a:ext cx="2933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$212M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251EE-56B7-4721-A7CD-06B32120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38425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H1 revenue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212299-3373-41F2-A07B-B612EEDA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2933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+16% versus prior year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273262-7059-47A9-B57C-42880DED1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52625"/>
            <a:ext cx="3333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414067-F1A0-489D-B4DE-B849AA32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5262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06C7D5-624E-4535-BC97-84A48169D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62175"/>
            <a:ext cx="2933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$38M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138151-1C73-4A44-81A1-90B3F8962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38425"/>
            <a:ext cx="2933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Adjusted EBITDA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FBA3A9-C189-4238-9944-749554D7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914650"/>
            <a:ext cx="2933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+24% versus prior year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F1C597-521C-458A-938F-5547FE1E4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39624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E5767A-CE0C-407C-A0BA-1B287078F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5262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292C96-64E1-418C-A649-C44DB6A3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162175"/>
            <a:ext cx="3562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17.9%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126FCA-42EE-4253-B377-ECB3A9F7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38425"/>
            <a:ext cx="3562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243B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43B53"/>
                </a:solidFill>
                <a:latin typeface="Aptos"/>
                <a:ea typeface="Aptos"/>
                <a:cs typeface="Aptos"/>
              </a:rPr>
              <a:t>EBITDA margin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615843-1582-4772-89CF-DBA956BC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14650"/>
            <a:ext cx="35623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627D98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27D98"/>
                </a:solidFill>
                <a:latin typeface="Aptos"/>
                <a:ea typeface="Aptos"/>
                <a:cs typeface="Aptos"/>
              </a:rPr>
              <a:t>+1.2 pts versus plan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617C0F-12AB-405E-8D5C-2FF70D8FF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723900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46F07F-93C9-44AF-9373-84E3D1E83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338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Performance versus plan</a:t>
            </a:r>
          </a:p>
        </p:txBody>
      </p:sp>
      <p:graphicFrame>
        <p:nvGraphicFramePr>
          <p:cNvPr id="61" name="Chart"/>
          <p:cNvGraphicFramePr/>
          <p:nvPr/>
        </p:nvGraphicFramePr>
        <p:xfrm>
          <a:off xmlns:a="http://schemas.openxmlformats.org/drawingml/2006/main" x="876300" y="4171950"/>
          <a:ext xmlns:a="http://schemas.openxmlformats.org/drawingml/2006/main" cx="6524625" cy="1381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712a503d8d4ade"/>
          </a:graphicData>
        </a:graphic>
      </p:graphicFrame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1FAC81-1C1D-4062-9126-85DD11EAA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76625"/>
            <a:ext cx="34480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4A8178-6899-431E-99D9-D93DF4CD3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52850"/>
            <a:ext cx="238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02A4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2A43"/>
                </a:solidFill>
                <a:latin typeface="Aptos"/>
                <a:ea typeface="Aptos"/>
                <a:cs typeface="Aptos"/>
              </a:rPr>
              <a:t>Key message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719CDE-A81E-4B94-9175-1ADD1235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57675"/>
            <a:ext cx="2647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102A43"/>
                </a:solidFill>
                <a:latin typeface="Aptos Display"/>
                <a:ea typeface="Aptos Display"/>
                <a:cs typeface="Aptos Display"/>
              </a:rPr>
              <a:t>Growth and operating leverage are progressing together.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46F1D4-7B6A-4474-B8A5-29155D09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38750"/>
            <a:ext cx="1562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4F7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B988F6-C2E6-48C1-B94E-6F3B0CBE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29590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087F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87F6E"/>
                </a:solidFill>
                <a:latin typeface="Aptos"/>
                <a:ea typeface="Aptos"/>
                <a:cs typeface="Aptos"/>
              </a:rPr>
              <a:t>AHEAD OF PLAN</a:t>
            </a:r>
          </a:p>
        </p:txBody>
      </p:sp>
    </p:spTree>
    <p:extLst>
      <p:ext uri="{BB962C8B-B14F-4D97-AF65-F5344CB8AC3E}">
        <p14:creationId xmlns:p14="http://schemas.microsoft.com/office/powerpoint/2010/main" val="9891751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2026-07-11T13:13:23.9410000Z</dcterms:created>
  <dcterms:modified xsi:type="dcterms:W3CDTF">2026-07-11T13:13:23.9410000Z</dcterms:modified>
</coreProperties>
</file>